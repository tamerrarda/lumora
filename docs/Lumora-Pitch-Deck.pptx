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umora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9164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83080" y="178308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Lumora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Payroll that streams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FFC83D"/>
                </a:solidFill>
                <a:latin typeface="Arial"/>
              </a:rPr>
              <a:t>by the second.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F7F3E9"/>
                </a:solidFill>
                <a:latin typeface="Arial"/>
              </a:rPr>
              <a:t>Real-time, yield-aware stablecoin payroll on Stellar.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52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C83D"/>
                </a:solidFill>
                <a:latin typeface="Arial"/>
              </a:rPr>
              <a:t>Live demo: lumora-stream.vercel.app</a:t>
            </a:r>
            <a:r>
              <a:rPr sz="1300" b="0">
                <a:solidFill>
                  <a:srgbClr val="6E6A60"/>
                </a:solidFill>
                <a:latin typeface="Arial"/>
              </a:rPr>
              <a:t>     ·     </a:t>
            </a:r>
            <a:r>
              <a:rPr sz="1300" b="0">
                <a:solidFill>
                  <a:srgbClr val="F7F3E9"/>
                </a:solidFill>
                <a:latin typeface="Arial"/>
              </a:rPr>
              <a:t>github.com/tamerrarda/Lumora</a:t>
            </a:r>
            <a:r>
              <a:rPr sz="1300" b="0">
                <a:solidFill>
                  <a:srgbClr val="6E6A60"/>
                </a:solidFill>
                <a:latin typeface="Arial"/>
              </a:rPr>
              <a:t>     ·     </a:t>
            </a:r>
            <a:r>
              <a:rPr sz="1300" b="0">
                <a:solidFill>
                  <a:srgbClr val="F7F3E9"/>
                </a:solidFill>
                <a:latin typeface="Arial"/>
              </a:rPr>
              <a:t>Stellar · Soroban · USDC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E56CF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1">
                <a:solidFill>
                  <a:srgbClr val="15151A"/>
                </a:solidFill>
                <a:latin typeface="Arial"/>
              </a:rPr>
              <a:t>Payroll is stuck in the batch 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352044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697480"/>
            <a:ext cx="457200" cy="1097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6E56CF"/>
                </a:solidFill>
                <a:latin typeface="Arial"/>
              </a:rPr>
              <a:t>Paid monthly, in arrears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4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E6A60"/>
                </a:solidFill>
                <a:latin typeface="Arial"/>
              </a:rPr>
              <a:t>Workers lend their labor to employers interest-free for up to 30 days before seeing a cent.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377440"/>
            <a:ext cx="352044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18888" y="2697480"/>
            <a:ext cx="457200" cy="1097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97180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6E56CF"/>
                </a:solidFill>
                <a:latin typeface="Arial"/>
              </a:rPr>
              <a:t>Opaque &amp; slow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74904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E6A60"/>
                </a:solidFill>
                <a:latin typeface="Arial"/>
              </a:rPr>
              <a:t>Cross-border salaries take days, carry fees, and offer no real-time visibility into what's earned.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6" y="2377440"/>
            <a:ext cx="352044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0496" y="2697480"/>
            <a:ext cx="457200" cy="1097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0496" y="2971800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6E56CF"/>
                </a:solidFill>
                <a:latin typeface="Arial"/>
              </a:rPr>
              <a:t>Idle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374904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E6A60"/>
                </a:solidFill>
                <a:latin typeface="Arial"/>
              </a:rPr>
              <a:t>Payroll floats sit in bank accounts earning the employer nothing while waiting to be paid 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E56CF"/>
                </a:solidFill>
                <a:latin typeface="Arial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15151A"/>
                </a:solidFill>
                <a:latin typeface="Arial"/>
              </a:rPr>
              <a:t>Salary that accrues every second —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6E56CF"/>
                </a:solidFill>
                <a:latin typeface="Arial"/>
              </a:rPr>
              <a:t>and idle funds that earn yield.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182112"/>
            <a:ext cx="164592" cy="164592"/>
          </a:xfrm>
          <a:prstGeom prst="round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1089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>
                <a:solidFill>
                  <a:srgbClr val="15151A"/>
                </a:solidFill>
                <a:latin typeface="Arial"/>
              </a:rPr>
              <a:t>Employers fund USDC and create salary streams with a start and end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096512"/>
            <a:ext cx="164592" cy="164592"/>
          </a:xfrm>
          <a:prstGeom prst="round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233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>
                <a:solidFill>
                  <a:srgbClr val="15151A"/>
                </a:solidFill>
                <a:latin typeface="Arial"/>
              </a:rPr>
              <a:t>Employees watch their balance grow per second and withdraw any earned amount, anytime.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010912"/>
            <a:ext cx="164592" cy="164592"/>
          </a:xfrm>
          <a:prstGeom prst="round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93776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0">
                <a:solidFill>
                  <a:srgbClr val="15151A"/>
                </a:solidFill>
                <a:latin typeface="Arial"/>
              </a:rPr>
              <a:t>Idle employer funds earn yield in a treasury layer — while active salary reserves stay fully protected.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E56CF"/>
                </a:solidFill>
                <a:latin typeface="Arial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5151A"/>
                </a:solidFill>
                <a:latin typeface="Arial"/>
              </a:rPr>
              <a:t>Three steps, fully on-chain.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352044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697480"/>
            <a:ext cx="777240" cy="777240"/>
          </a:xfrm>
          <a:prstGeom prst="round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761488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4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5151A"/>
                </a:solidFill>
                <a:latin typeface="Arial"/>
              </a:rPr>
              <a:t>Fund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E6A60"/>
                </a:solidFill>
                <a:latin typeface="Arial"/>
              </a:rPr>
              <a:t>Employer deposits USDC and opens a stream for each employee with a rate and an end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2377440"/>
            <a:ext cx="352044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18888" y="2697480"/>
            <a:ext cx="777240" cy="777240"/>
          </a:xfrm>
          <a:prstGeom prst="round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2761488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74904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5151A"/>
                </a:solidFill>
                <a:latin typeface="Arial"/>
              </a:rPr>
              <a:t>Stream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43434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E6A60"/>
                </a:solidFill>
                <a:latin typeface="Arial"/>
              </a:rPr>
              <a:t>The contract accrues the salary continuously — no payday, no batch job, every second counts.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6" y="2377440"/>
            <a:ext cx="3520440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40496" y="2697480"/>
            <a:ext cx="777240" cy="777240"/>
          </a:xfrm>
          <a:prstGeom prst="round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6" y="2761488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3749040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5151A"/>
                </a:solidFill>
                <a:latin typeface="Arial"/>
              </a:rPr>
              <a:t>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434340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E6A60"/>
                </a:solidFill>
                <a:latin typeface="Arial"/>
              </a:rPr>
              <a:t>Employee withdraws any earned amount on demand; unspent reserve returns to the employer on cancel.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C83D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Three Soroban contracts. One safety guarantee.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520440" cy="2194560"/>
          </a:xfrm>
          <a:prstGeom prst="roundRect">
            <a:avLst/>
          </a:prstGeom>
          <a:solidFill>
            <a:srgbClr val="22222C"/>
          </a:solidFill>
          <a:ln w="19050">
            <a:solidFill>
              <a:srgbClr val="FFC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606040"/>
            <a:ext cx="411480" cy="91440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C83D"/>
                </a:solidFill>
                <a:latin typeface="Arial"/>
              </a:rPr>
              <a:t>payroll_stream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7F3E9"/>
                </a:solidFill>
                <a:latin typeface="Arial"/>
              </a:rPr>
              <a:t>Salary stream engine — fund, create, withdraw, lifecycle &amp; upgrade.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4568" y="2286000"/>
            <a:ext cx="3520440" cy="2194560"/>
          </a:xfrm>
          <a:prstGeom prst="roundRect">
            <a:avLst/>
          </a:prstGeom>
          <a:solidFill>
            <a:srgbClr val="22222C"/>
          </a:solidFill>
          <a:ln w="1905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18888" y="2606040"/>
            <a:ext cx="411480" cy="9144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8888" y="28346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6E56CF"/>
                </a:solidFill>
                <a:latin typeface="Arial"/>
              </a:rPr>
              <a:t>payroll_treasury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338328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7F3E9"/>
                </a:solidFill>
                <a:latin typeface="Arial"/>
              </a:rPr>
              <a:t>Yield-aware treasury — deposit, withdraw, fund payroll from yield.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6" y="2286000"/>
            <a:ext cx="3520440" cy="2194560"/>
          </a:xfrm>
          <a:prstGeom prst="roundRect">
            <a:avLst/>
          </a:prstGeom>
          <a:solidFill>
            <a:srgbClr val="22222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0496" y="2606040"/>
            <a:ext cx="41148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0496" y="28346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yield_strategy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338328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F7F3E9"/>
                </a:solidFill>
                <a:latin typeface="Arial"/>
              </a:rPr>
              <a:t>Pluggable strategy adapter — swap yield sources without touching payroll.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92040"/>
            <a:ext cx="10515600" cy="1188720"/>
          </a:xfrm>
          <a:prstGeom prst="roundRect">
            <a:avLst/>
          </a:prstGeom>
          <a:solidFill>
            <a:srgbClr val="2B2412"/>
          </a:solidFill>
          <a:ln w="19050">
            <a:solidFill>
              <a:srgbClr val="FFC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20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1">
                <a:solidFill>
                  <a:srgbClr val="FFC83D"/>
                </a:solidFill>
                <a:latin typeface="Arial"/>
              </a:rPr>
              <a:t>Reserve isolation: </a:t>
            </a:r>
            <a:r>
              <a:rPr sz="1600" b="0">
                <a:solidFill>
                  <a:srgbClr val="F7F3E9"/>
                </a:solidFill>
                <a:latin typeface="Arial"/>
              </a:rPr>
              <a:t>funds backing active salaries can never be deployed for yield. The yield layer only ever touches truly idle capital — enforced in the contract, not by convention.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E56CF"/>
                </a:solidFill>
                <a:latin typeface="Arial"/>
              </a:rPr>
              <a:t>WHY STELLAR + USDC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5151A"/>
                </a:solidFill>
                <a:latin typeface="Arial"/>
              </a:rPr>
              <a:t>The right rails for money that moves.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512064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6E56CF"/>
                </a:solidFill>
                <a:latin typeface="Arial"/>
              </a:rPr>
              <a:t>~5s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60604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5151A"/>
                </a:solidFill>
                <a:latin typeface="Arial"/>
              </a:rPr>
              <a:t>settlement finality — salaries land near-instantly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12064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0604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6E56CF"/>
                </a:solidFill>
                <a:latin typeface="Arial"/>
              </a:rPr>
              <a:t>&lt;$0.01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60604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5151A"/>
                </a:solidFill>
                <a:latin typeface="Arial"/>
              </a:rPr>
              <a:t>transaction cost — micro-withdrawals are economical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512064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6E56CF"/>
                </a:solidFill>
                <a:latin typeface="Arial"/>
              </a:rPr>
              <a:t>USDC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34340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5151A"/>
                </a:solidFill>
                <a:latin typeface="Arial"/>
              </a:rPr>
              <a:t>native via Stellar Asset Contract (SEP-41), 7 decimals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12064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434340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6E56CF"/>
                </a:solidFill>
                <a:latin typeface="Arial"/>
              </a:rPr>
              <a:t>SAC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4340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15151A"/>
                </a:solidFill>
                <a:latin typeface="Arial"/>
              </a:rPr>
              <a:t>classic asset bridged into Soroban with no custom token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E56CF"/>
                </a:solidFill>
                <a:latin typeface="Arial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5151A"/>
                </a:solidFill>
                <a:latin typeface="Arial"/>
              </a:rPr>
              <a:t>Live on testnet, end to 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338328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2651760"/>
            <a:ext cx="365760" cy="91440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85292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6E56CF"/>
                </a:solidFill>
                <a:latin typeface="Arial"/>
              </a:rPr>
              <a:t>Earnings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3375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E6A60"/>
                </a:solidFill>
                <a:latin typeface="Arial"/>
              </a:rPr>
              <a:t>Live per-second withdrawable counter + one-tap claim.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377440"/>
            <a:ext cx="338328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90872" y="2651760"/>
            <a:ext cx="365760" cy="91440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85292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6E56CF"/>
                </a:solidFill>
                <a:latin typeface="Arial"/>
              </a:rPr>
              <a:t>Payroll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3375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E6A60"/>
                </a:solidFill>
                <a:latin typeface="Arial"/>
              </a:rPr>
              <a:t>Fund balance, create date-based streams, manage &amp; cancel.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377440"/>
            <a:ext cx="338328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2752" y="2651760"/>
            <a:ext cx="365760" cy="91440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85292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6E56CF"/>
                </a:solidFill>
                <a:latin typeface="Arial"/>
              </a:rPr>
              <a:t>Treasury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3375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E6A60"/>
                </a:solidFill>
                <a:latin typeface="Arial"/>
              </a:rPr>
              <a:t>Deposit idle USDC, track accrued yield, fund payroll.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06240"/>
            <a:ext cx="338328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8992" y="4480560"/>
            <a:ext cx="365760" cy="91440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68172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6E56CF"/>
                </a:solidFill>
                <a:latin typeface="Arial"/>
              </a:rPr>
              <a:t>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1663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E6A60"/>
                </a:solidFill>
                <a:latin typeface="Arial"/>
              </a:rPr>
              <a:t>On-chain spend history + forward yield projection.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206240"/>
            <a:ext cx="338328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90872" y="4480560"/>
            <a:ext cx="365760" cy="91440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468172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6E56CF"/>
                </a:solidFill>
                <a:latin typeface="Arial"/>
              </a:rPr>
              <a:t>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51663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E6A60"/>
                </a:solidFill>
                <a:latin typeface="Arial"/>
              </a:rPr>
              <a:t>In-app documentation site for jury &amp; integrators.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206240"/>
            <a:ext cx="3383280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02752" y="4480560"/>
            <a:ext cx="365760" cy="91440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4681728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6E56CF"/>
                </a:solidFill>
                <a:latin typeface="Arial"/>
              </a:rPr>
              <a:t>Wallets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16636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6E6A60"/>
                </a:solidFill>
                <a:latin typeface="Arial"/>
              </a:rPr>
              <a:t>Freighter / xBull / Lobstr / Albedo via Wallets Kit.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C83D"/>
                </a:solidFill>
                <a:latin typeface="Arial"/>
              </a:rPr>
              <a:t>TRACTION &amp;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Validated with a testnet pilot cohort.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83280" cy="1645920"/>
          </a:xfrm>
          <a:prstGeom prst="roundRect">
            <a:avLst/>
          </a:prstGeom>
          <a:solidFill>
            <a:srgbClr val="22222C"/>
          </a:solidFill>
          <a:ln w="1905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C83D"/>
                </a:solidFill>
                <a:latin typeface="Arial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7F3E9"/>
                </a:solidFill>
                <a:latin typeface="Arial"/>
              </a:rPr>
              <a:t>onboarded pilot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86000"/>
            <a:ext cx="3383280" cy="1645920"/>
          </a:xfrm>
          <a:prstGeom prst="roundRect">
            <a:avLst/>
          </a:prstGeom>
          <a:solidFill>
            <a:srgbClr val="22222C"/>
          </a:solidFill>
          <a:ln w="1905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51460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C83D"/>
                </a:solidFill>
                <a:latin typeface="Arial"/>
              </a:rPr>
              <a:t>4.4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3375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7F3E9"/>
                </a:solidFill>
                <a:latin typeface="Arial"/>
              </a:rPr>
              <a:t>avg product rating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3383280" cy="1645920"/>
          </a:xfrm>
          <a:prstGeom prst="roundRect">
            <a:avLst/>
          </a:prstGeom>
          <a:solidFill>
            <a:srgbClr val="22222C"/>
          </a:solidFill>
          <a:ln w="19050">
            <a:solidFill>
              <a:srgbClr val="6E5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514600"/>
            <a:ext cx="3383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FFC83D"/>
                </a:solidFill>
                <a:latin typeface="Arial"/>
              </a:rPr>
              <a:t>53%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337560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7F3E9"/>
                </a:solidFill>
                <a:latin typeface="Arial"/>
              </a:rPr>
              <a:t>rated it 5 stars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97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What they asked for next: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7F3E9"/>
                </a:solidFill>
                <a:latin typeface="Arial"/>
              </a:rPr>
              <a:t>“Streaming payroll by the second is exactly what our remote team needed.”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7608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7F3E9"/>
                </a:solidFill>
                <a:latin typeface="Arial"/>
              </a:rPr>
              <a:t>“Add multi-asset support — we pay some contractors in EURC.”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5157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F7F3E9"/>
                </a:solidFill>
                <a:latin typeface="Arial"/>
              </a:rPr>
              <a:t>“Role-based access for employer org accounts before we go to production.”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109728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6E56CF"/>
                </a:solidFill>
                <a:latin typeface="Arial"/>
              </a:rPr>
              <a:t>NEXT PHASE — DRIVEN BY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>
                <a:solidFill>
                  <a:srgbClr val="15151A"/>
                </a:solidFill>
                <a:latin typeface="Arial"/>
              </a:rPr>
              <a:t>From pilot to production.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352044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3520440" cy="640080"/>
          </a:xfrm>
          <a:prstGeom prst="round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5151A"/>
                </a:solidFill>
                <a:latin typeface="Arial"/>
              </a:rPr>
              <a:t>Now (shipped)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364992"/>
            <a:ext cx="128016" cy="128016"/>
          </a:xfrm>
          <a:prstGeom prst="round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5151A"/>
                </a:solidFill>
                <a:latin typeface="Arial"/>
              </a:rPr>
              <a:t>Date-based streams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005072"/>
            <a:ext cx="128016" cy="128016"/>
          </a:xfrm>
          <a:prstGeom prst="round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5151A"/>
                </a:solidFill>
                <a:latin typeface="Arial"/>
              </a:rPr>
              <a:t>Live withdrawal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645152"/>
            <a:ext cx="128016" cy="128016"/>
          </a:xfrm>
          <a:prstGeom prst="round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5720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5151A"/>
                </a:solidFill>
                <a:latin typeface="Arial"/>
              </a:rPr>
              <a:t>Reliable refetch after create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4568" y="2377440"/>
            <a:ext cx="352044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44568" y="2377440"/>
            <a:ext cx="3520440" cy="640080"/>
          </a:xfrm>
          <a:prstGeom prst="round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2487168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18888" y="3364992"/>
            <a:ext cx="128016" cy="128016"/>
          </a:xfrm>
          <a:prstGeom prst="round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3208" y="32918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5151A"/>
                </a:solidFill>
                <a:latin typeface="Arial"/>
              </a:rPr>
              <a:t>Multi-asset (EURC)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18888" y="4005072"/>
            <a:ext cx="128016" cy="128016"/>
          </a:xfrm>
          <a:prstGeom prst="round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8" y="39319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5151A"/>
                </a:solidFill>
                <a:latin typeface="Arial"/>
              </a:rPr>
              <a:t>Role-based org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18888" y="4645152"/>
            <a:ext cx="128016" cy="128016"/>
          </a:xfrm>
          <a:prstGeom prst="round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3208" y="45720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5151A"/>
                </a:solidFill>
                <a:latin typeface="Arial"/>
              </a:rPr>
              <a:t>CSV bulk stream import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66176" y="2377440"/>
            <a:ext cx="352044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66176" y="2377440"/>
            <a:ext cx="3520440" cy="640080"/>
          </a:xfrm>
          <a:prstGeom prst="roundRect">
            <a:avLst/>
          </a:prstGeom>
          <a:solidFill>
            <a:srgbClr val="15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6" y="2487168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Later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0496" y="3364992"/>
            <a:ext cx="128016" cy="128016"/>
          </a:xfrm>
          <a:prstGeom prst="roundRect">
            <a:avLst/>
          </a:prstGeom>
          <a:solidFill>
            <a:srgbClr val="15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14816" y="32918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5151A"/>
                </a:solidFill>
                <a:latin typeface="Arial"/>
              </a:rPr>
              <a:t>Selectable yield strategies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0496" y="4005072"/>
            <a:ext cx="128016" cy="128016"/>
          </a:xfrm>
          <a:prstGeom prst="roundRect">
            <a:avLst/>
          </a:prstGeom>
          <a:solidFill>
            <a:srgbClr val="15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14816" y="39319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5151A"/>
                </a:solidFill>
                <a:latin typeface="Arial"/>
              </a:rPr>
              <a:t>Accounting/audit export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0496" y="4645152"/>
            <a:ext cx="128016" cy="128016"/>
          </a:xfrm>
          <a:prstGeom prst="roundRect">
            <a:avLst/>
          </a:prstGeom>
          <a:solidFill>
            <a:srgbClr val="15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14816" y="457200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solidFill>
                  <a:srgbClr val="15151A"/>
                </a:solidFill>
                <a:latin typeface="Arial"/>
              </a:rPr>
              <a:t>Mobile push + dark mode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Get paid by the second.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800" b="1">
                <a:solidFill>
                  <a:srgbClr val="FFC83D"/>
                </a:solidFill>
                <a:latin typeface="Arial"/>
              </a:rPr>
              <a:t>Try Lumora on testnet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206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C83D"/>
                </a:solidFill>
                <a:latin typeface="Arial"/>
              </a:rPr>
              <a:t>lumora-stream.vercel.app</a:t>
            </a:r>
            <a:r>
              <a:rPr sz="1800" b="0">
                <a:solidFill>
                  <a:srgbClr val="F7F3E9"/>
                </a:solidFill>
                <a:latin typeface="Arial"/>
              </a:rPr>
              <a:t>        github.com/tamerrarda/Lumora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846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F7F3E9"/>
                </a:solidFill>
                <a:latin typeface="Arial"/>
              </a:rPr>
              <a:t>Demo: youtu.be/721Y2YrENd4</a:t>
            </a:r>
            <a:r>
              <a:rPr sz="1500" b="0">
                <a:solidFill>
                  <a:srgbClr val="6E6A60"/>
                </a:solidFill>
                <a:latin typeface="Arial"/>
              </a:rPr>
              <a:t>        Built on Stellar · Soroban · USDC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